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42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Code Apps: 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CCCCC"/>
                </a:solidFill>
                <a:latin typeface="Segoe UI"/>
              </a:defRPr>
            </a:pPr>
            <a:r>
              <a:t>What we found when we looked inside — and what it means for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474720"/>
            <a:ext cx="27432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Power Platform Tech Series  ·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Companion to "Intro to Code Apps" — we pick up where that leaves off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42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Your App Lives Inside a Bigger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Think of it like renting space in an office building — you get security, elevators, and fire alarms for free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Segoe UI"/>
              </a:defRPr>
            </a:pPr>
            <a:r>
              <a:t>What Happens Behind the Scenes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EF4444"/>
                </a:solidFill>
                <a:latin typeface="Segoe UI"/>
              </a:rPr>
              <a:t>•  Your app is treated like a Canvas App </a:t>
            </a:r>
            <a:r>
              <a:rPr sz="1400">
                <a:solidFill>
                  <a:srgbClr val="FFFFFF"/>
                </a:solidFill>
                <a:latin typeface="Segoe UI"/>
              </a:rPr>
              <a:t>Even though you wrote React code, the platform classifies it the same as a drag-and-drop app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BBF24"/>
                </a:solidFill>
                <a:latin typeface="Segoe UI"/>
              </a:rPr>
              <a:t>•  It’s nested inside multiple layers </a:t>
            </a:r>
            <a:r>
              <a:rPr sz="1400">
                <a:solidFill>
                  <a:srgbClr val="FFFFFF"/>
                </a:solidFill>
                <a:latin typeface="Segoe UI"/>
              </a:rPr>
              <a:t>Like a series of picture frames: platform shell → player → runtime → your code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60A5FA"/>
                </a:solidFill>
                <a:latin typeface="Segoe UI"/>
              </a:rPr>
              <a:t>•  77 scripts load before yours </a:t>
            </a:r>
            <a:r>
              <a:rPr sz="1400">
                <a:solidFill>
                  <a:srgbClr val="FFFFFF"/>
                </a:solidFill>
                <a:latin typeface="Segoe UI"/>
              </a:rPr>
              <a:t>For login, security, Teams integration, Copilot AI, user surveys, and more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0B981"/>
                </a:solidFill>
                <a:latin typeface="Segoe UI"/>
              </a:rPr>
              <a:t>•  230KB of translations load every time </a:t>
            </a:r>
            <a:r>
              <a:rPr sz="1400">
                <a:solidFill>
                  <a:srgbClr val="FFFFFF"/>
                </a:solidFill>
                <a:latin typeface="Segoe UI"/>
              </a:rPr>
              <a:t>Text for every language, device type, and region — most of it will never be used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94A3B8"/>
                </a:solidFill>
                <a:latin typeface="Segoe UI"/>
              </a:rPr>
              <a:t>•  55 on/off switches </a:t>
            </a:r>
            <a:r>
              <a:rPr sz="1400">
                <a:solidFill>
                  <a:srgbClr val="FFFFFF"/>
                </a:solidFill>
                <a:latin typeface="Segoe UI"/>
              </a:rPr>
              <a:t>Microsoft can enable or disable features for your organization remotely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Segoe UI"/>
              </a:defRPr>
            </a:pPr>
            <a:r>
              <a:t>What You Get Without Doing Anything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0B981"/>
                </a:solidFill>
                <a:latin typeface="Segoe UI"/>
              </a:rPr>
              <a:t>•  Login is handled for you </a:t>
            </a:r>
            <a:r>
              <a:rPr sz="1400">
                <a:solidFill>
                  <a:srgbClr val="FFFFFF"/>
                </a:solidFill>
                <a:latin typeface="Segoe UI"/>
              </a:rPr>
              <a:t>Users are authenticated before your app even loads — you never touch passwords or tokens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8B5CF6"/>
                </a:solidFill>
                <a:latin typeface="Segoe UI"/>
              </a:rPr>
              <a:t>•  Copilot AI is pre-wired </a:t>
            </a:r>
            <a:r>
              <a:rPr sz="1400">
                <a:solidFill>
                  <a:srgbClr val="FFFFFF"/>
                </a:solidFill>
                <a:latin typeface="Segoe UI"/>
              </a:rPr>
              <a:t>A built-in AI assistant panel is ready to go — 185 references to it in the page code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60A5FA"/>
                </a:solidFill>
                <a:latin typeface="Segoe UI"/>
              </a:rPr>
              <a:t>•  Works in government clouds automatically </a:t>
            </a:r>
            <a:r>
              <a:rPr sz="1400">
                <a:solidFill>
                  <a:srgbClr val="FFFFFF"/>
                </a:solidFill>
                <a:latin typeface="Segoe UI"/>
              </a:rPr>
              <a:t>Same app code runs in US Gov, Germany, China — no changes needed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BBF24"/>
                </a:solidFill>
                <a:latin typeface="Segoe UI"/>
              </a:rPr>
              <a:t>•  Accessibility is built in </a:t>
            </a:r>
            <a:r>
              <a:rPr sz="1400">
                <a:solidFill>
                  <a:srgbClr val="FFFFFF"/>
                </a:solidFill>
                <a:latin typeface="Segoe UI"/>
              </a:rPr>
              <a:t>Screen reader support, keyboard navigation, skip-to-content links, progress indicators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94A3B8"/>
                </a:solidFill>
                <a:latin typeface="Segoe UI"/>
              </a:rPr>
              <a:t>•  Security headers are managed </a:t>
            </a:r>
            <a:r>
              <a:rPr sz="1400">
                <a:solidFill>
                  <a:srgbClr val="FFFFFF"/>
                </a:solidFill>
                <a:latin typeface="Segoe UI"/>
              </a:rPr>
              <a:t>Content security policies and script protections are applied for you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035040"/>
            <a:ext cx="10698480" cy="36576"/>
          </a:xfrm>
          <a:prstGeom prst="rect">
            <a:avLst/>
          </a:prstGeom>
          <a:solidFill>
            <a:srgbClr val="742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How we know: we saved the deployed app’s HTML and read every line — I’ll show you in the 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Surprises We Found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Two real bugs that looked like everything was working fine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91640"/>
            <a:ext cx="54864" cy="39319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  <a:latin typeface="Segoe UI"/>
              </a:defRPr>
            </a:pPr>
            <a:r>
              <a:t>⚠  The Invisible Data Bug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Saving worked perfectly — but opening the same record showed the link was "gone"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BBF24"/>
                </a:solidFill>
                <a:latin typeface="Segoe UI"/>
              </a:rPr>
              <a:t>•  The data was actually fine </a:t>
            </a:r>
            <a:r>
              <a:rPr sz="1300">
                <a:solidFill>
                  <a:srgbClr val="FFFFFF"/>
                </a:solidFill>
                <a:latin typeface="Segoe UI"/>
              </a:rPr>
              <a:t>The contact was linked to the right account in the database. The app just couldn’t read it back.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CCCCCC"/>
                </a:solidFill>
                <a:latin typeface="Segoe UI"/>
              </a:rPr>
              <a:t>•  Why? Different field names for saving vs. reading </a:t>
            </a:r>
            <a:r>
              <a:rPr sz="1300">
                <a:solidFill>
                  <a:srgbClr val="FFFFFF"/>
                </a:solidFill>
                <a:latin typeface="Segoe UI"/>
              </a:rPr>
              <a:t>The system uses one name when you write data and a completely different name when you read it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CCCCCC"/>
                </a:solidFill>
                <a:latin typeface="Segoe UI"/>
              </a:rPr>
              <a:t>•  It looked like it worked </a:t>
            </a:r>
            <a:r>
              <a:rPr sz="1300">
                <a:solidFill>
                  <a:srgbClr val="FFFFFF"/>
                </a:solidFill>
                <a:latin typeface="Segoe UI"/>
              </a:rPr>
              <a:t>You could save, close, and see success. Only when you reopened the record did you notice the link showed "None"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Segoe UI"/>
              </a:rPr>
              <a:t>•  The fix: check both field names </a:t>
            </a:r>
            <a:r>
              <a:rPr sz="1300">
                <a:solidFill>
                  <a:srgbClr val="FFFFFF"/>
                </a:solidFill>
                <a:latin typeface="Segoe UI"/>
              </a:rPr>
              <a:t>A simple fallback — look for the data under both names and use whichever one has it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691640"/>
            <a:ext cx="54864" cy="3931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6459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Segoe UI"/>
              </a:defRPr>
            </a:pPr>
            <a:r>
              <a:t>❌  The Chatbot That Only Worked Locally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031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Worked great on my machine — completely broke when deployed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56032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CCCCCC"/>
                </a:solidFill>
                <a:latin typeface="Segoe UI"/>
              </a:rPr>
              <a:t>•  We copied a proven pattern </a:t>
            </a:r>
            <a:r>
              <a:rPr sz="1300">
                <a:solidFill>
                  <a:srgbClr val="FFFFFF"/>
                </a:solidFill>
                <a:latin typeface="Segoe UI"/>
              </a:rPr>
              <a:t>An AI chatbot setup that worked perfectly in a standalone website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EF4444"/>
                </a:solidFill>
                <a:latin typeface="Segoe UI"/>
              </a:rPr>
              <a:t>•  Code Apps handle login differently </a:t>
            </a:r>
            <a:r>
              <a:rPr sz="1300">
                <a:solidFill>
                  <a:srgbClr val="FFFFFF"/>
                </a:solidFill>
                <a:latin typeface="Segoe UI"/>
              </a:rPr>
              <a:t>The platform uses its own login system, so our chatbot couldn’t get the credentials it needed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CCCCCC"/>
                </a:solidFill>
                <a:latin typeface="Segoe UI"/>
              </a:rPr>
              <a:t>•  Local testing hid the problem </a:t>
            </a:r>
            <a:r>
              <a:rPr sz="1300">
                <a:solidFill>
                  <a:srgbClr val="FFFFFF"/>
                </a:solidFill>
                <a:latin typeface="Segoe UI"/>
              </a:rPr>
              <a:t>The dev environment doesn’t show the same login restrictions as the real deployment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Segoe UI"/>
              </a:rPr>
              <a:t>•  The fix: use the platform’s built-in chat </a:t>
            </a:r>
            <a:r>
              <a:rPr sz="1300">
                <a:solidFill>
                  <a:srgbClr val="FFFFFF"/>
                </a:solidFill>
                <a:latin typeface="Segoe UI"/>
              </a:rPr>
              <a:t>Since both the app and chatbot live in Power Platform, the login session is already shared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943600"/>
            <a:ext cx="1069848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BBF24"/>
                </a:solidFill>
                <a:latin typeface="Segoe UI"/>
              </a:defRPr>
            </a:pPr>
            <a:r>
              <a:t>Lesson: always test the deployed version — what works locally can fail in production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An AI Agent Built This Entire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18 rounds of work — from blank project to full app — every decision is documented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Segoe UI"/>
              </a:defRPr>
            </a:pPr>
            <a:r>
              <a:t>How We Built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0B981"/>
                </a:solidFill>
                <a:latin typeface="Segoe UI"/>
              </a:rPr>
              <a:t>•  An AI assistant wrote every line </a:t>
            </a:r>
            <a:r>
              <a:rPr sz="1400">
                <a:solidFill>
                  <a:srgbClr val="FFFFFF"/>
                </a:solidFill>
                <a:latin typeface="Segoe UI"/>
              </a:rPr>
              <a:t>Scaffolding, data screens, UI, AI features, drag-and-drop board — all of it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60A5FA"/>
                </a:solidFill>
                <a:latin typeface="Segoe UI"/>
              </a:rPr>
              <a:t>•  Each round: research first, then build </a:t>
            </a:r>
            <a:r>
              <a:rPr sz="1400">
                <a:solidFill>
                  <a:srgbClr val="FFFFFF"/>
                </a:solidFill>
                <a:latin typeface="Segoe UI"/>
              </a:rPr>
              <a:t>"How does this work in Code Apps?" → discover the gotchas → build the feature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BBF24"/>
                </a:solidFill>
                <a:latin typeface="Segoe UI"/>
              </a:rPr>
              <a:t>•  Every decision is written down </a:t>
            </a:r>
            <a:r>
              <a:rPr sz="1400">
                <a:solidFill>
                  <a:srgbClr val="FFFFFF"/>
                </a:solidFill>
                <a:latin typeface="Segoe UI"/>
              </a:rPr>
              <a:t>A full journal of what was tried, what broke, and how it was fixed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EF4444"/>
                </a:solidFill>
                <a:latin typeface="Segoe UI"/>
              </a:rPr>
              <a:t>•  The AI hit real bugs </a:t>
            </a:r>
            <a:r>
              <a:rPr sz="1400">
                <a:solidFill>
                  <a:srgbClr val="FFFFFF"/>
                </a:solidFill>
                <a:latin typeface="Segoe UI"/>
              </a:rPr>
              <a:t>The same tricky platform behaviors that would trip up a human developer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Segoe UI"/>
              </a:defRPr>
            </a:pPr>
            <a:r>
              <a:t>The Dashboard: Simpler Than It Looks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1031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8B5CF6"/>
                </a:solidFill>
                <a:latin typeface="Segoe UI"/>
              </a:rPr>
              <a:t>•  705 lines, no charting library </a:t>
            </a:r>
            <a:r>
              <a:rPr sz="1400">
                <a:solidFill>
                  <a:srgbClr val="FFFFFF"/>
                </a:solidFill>
                <a:latin typeface="Segoe UI"/>
              </a:rPr>
              <a:t>The charts are drawn with basic web graphics — circles and rectangles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0B981"/>
                </a:solidFill>
                <a:latin typeface="Segoe UI"/>
              </a:rPr>
              <a:t>•  One prompt rebuilt it from scratch </a:t>
            </a:r>
            <a:r>
              <a:rPr sz="1400">
                <a:solidFill>
                  <a:srgbClr val="FFFFFF"/>
                </a:solidFill>
                <a:latin typeface="Segoe UI"/>
              </a:rPr>
              <a:t>"Replace the chart library with something simpler" → done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60A5FA"/>
                </a:solidFill>
                <a:latin typeface="Segoe UI"/>
              </a:rPr>
              <a:t>•  Every chart is clickable </a:t>
            </a:r>
            <a:r>
              <a:rPr sz="1400">
                <a:solidFill>
                  <a:srgbClr val="FFFFFF"/>
                </a:solidFill>
                <a:latin typeface="Segoe UI"/>
              </a:rPr>
              <a:t>Click any number, bar, or ring segment to see the actual records behind it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BBF24"/>
                </a:solidFill>
                <a:latin typeface="Segoe UI"/>
              </a:rPr>
              <a:t>•  Kanban board: drag cards between columns </a:t>
            </a:r>
            <a:r>
              <a:rPr sz="1400">
                <a:solidFill>
                  <a:srgbClr val="FFFFFF"/>
                </a:solidFill>
                <a:latin typeface="Segoe UI"/>
              </a:rPr>
              <a:t>4 columns with real-time saves to the database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572000"/>
            <a:ext cx="106984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846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0B981"/>
                </a:solidFill>
                <a:latin typeface="Consolas"/>
              </a:defRPr>
            </a:pPr>
            <a: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3949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Database</a:t>
            </a:r>
            <a:br/>
            <a:r>
              <a:t>Tables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4846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0B981"/>
                </a:solidFill>
                <a:latin typeface="Consolas"/>
              </a:defRPr>
            </a:pPr>
            <a:r>
              <a:t>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53949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Build</a:t>
            </a:r>
            <a:br/>
            <a:r>
              <a:t>Rounds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4846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0B981"/>
                </a:solidFill>
                <a:latin typeface="Consolas"/>
              </a:defRPr>
            </a:pPr>
            <a:r>
              <a:t>705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53949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Dashboard</a:t>
            </a:r>
            <a:br/>
            <a:r>
              <a:t>Lines of 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4846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0B981"/>
                </a:solidFill>
                <a:latin typeface="Consolas"/>
              </a:defRPr>
            </a:pPr>
            <a: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53949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Chart</a:t>
            </a:r>
            <a:br/>
            <a:r>
              <a:t>Libraries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59" y="4846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0B981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59" y="53949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Deploy</a:t>
            </a:r>
            <a:br/>
            <a:r>
              <a:t>Command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Consolas"/>
              </a:defRPr>
            </a:pPr>
            <a:r>
              <a:t>npm run build &amp;&amp; pac code push  —  that's the entire deploy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Cool Things You Can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Standard tools that just work inside Power Platform — no special tricks needed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4864" cy="201168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0A5FA"/>
                </a:solidFill>
                <a:latin typeface="Segoe UI"/>
              </a:defRPr>
            </a:pPr>
            <a:r>
              <a:t>Instant Search, Zero Extra Calls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Press Ctrl+K to search all 6 data tables</a:t>
            </a:r>
            <a:br/>
            <a:r>
              <a:t>instantly. It reads data already loaded</a:t>
            </a:r>
            <a:br/>
            <a:r>
              <a:t>in memory — no extra database trips.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0B981"/>
                </a:solidFill>
                <a:latin typeface="Consolas"/>
              </a:defRPr>
            </a:pPr>
            <a:r>
              <a:t>Searches accounts, contacts, action items, ideas, meetings, projects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645920"/>
            <a:ext cx="54864" cy="20116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Segoe UI"/>
              </a:defRPr>
            </a:pPr>
            <a:r>
              <a:t>Quick-Create Buttons (27 lines of code)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1031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Colored buttons at the top of every page.</a:t>
            </a:r>
            <a:br/>
            <a:r>
              <a:t>Tap one and the right form opens,</a:t>
            </a:r>
            <a:br/>
            <a:r>
              <a:t>pre-filled with the right type. That’s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0B981"/>
                </a:solidFill>
                <a:latin typeface="Consolas"/>
              </a:defRPr>
            </a:pPr>
            <a:r>
              <a:t>Tap "work" → action item form opens with type = Work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023360"/>
            <a:ext cx="54864" cy="2011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069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Segoe UI"/>
              </a:defRPr>
            </a:pPr>
            <a:r>
              <a:t>Drag-and-Drop That Saves Automatically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4805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Drag a card on the Kanban board to a</a:t>
            </a:r>
            <a:br/>
            <a:r>
              <a:t>new column and the database updates</a:t>
            </a:r>
            <a:br/>
            <a:r>
              <a:t>instantly. No save button needed.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486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0B981"/>
                </a:solidFill>
                <a:latin typeface="Consolas"/>
              </a:defRPr>
            </a:pPr>
            <a:r>
              <a:t>Drag to parking lot → item is flagged as pinned in Dataverse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4023360"/>
            <a:ext cx="54864" cy="20116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4069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Segoe UI"/>
              </a:defRPr>
            </a:pPr>
            <a:r>
              <a:t>Dark Mode That Works Inside the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4805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One click toggles dark mode. This needed</a:t>
            </a:r>
            <a:br/>
            <a:r>
              <a:t>a specific approach because the platform</a:t>
            </a:r>
            <a:br/>
            <a:r>
              <a:t>controls the outer page styling.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5486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0B981"/>
                </a:solidFill>
                <a:latin typeface="Consolas"/>
              </a:defRPr>
            </a:pPr>
            <a:r>
              <a:t>Class-based toggle — media queries don’t work inside the iframe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Let Me Show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103120"/>
            <a:ext cx="2103120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BBF24"/>
                </a:solidFill>
                <a:latin typeface="Segoe UI"/>
              </a:defRPr>
            </a:pPr>
            <a:r>
              <a:t>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200400"/>
            <a:ext cx="7589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CCCCCC"/>
                </a:solidFill>
                <a:latin typeface="Segoe UI"/>
              </a:rPr>
              <a:t>•  ❶  Dashboard — click any number to see the records behind it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CCCCCC"/>
                </a:solidFill>
                <a:latin typeface="Segoe UI"/>
              </a:rPr>
              <a:t>•  ❷  Kanban Board — drag cards between columns, watch the database update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CCCCCC"/>
                </a:solidFill>
                <a:latin typeface="Segoe UI"/>
              </a:rPr>
              <a:t>•  ❸  Ctrl+K Search — find anything across all data tables instantly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CCCCCC"/>
                </a:solidFill>
                <a:latin typeface="Segoe UI"/>
              </a:rPr>
              <a:t>•  ❹  AI Magic — paste meeting notes, watch action items get created automatically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CCCCCC"/>
                </a:solidFill>
                <a:latin typeface="Segoe UI"/>
              </a:rPr>
              <a:t>•  ❺  Dark Mode — one click, works inside the platform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CCCCCC"/>
                </a:solidFill>
                <a:latin typeface="Segoe UI"/>
              </a:rPr>
              <a:t>•  ❻  Under the Hood — open dev tools to see the 77 scripts and the runtime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CCCCCC"/>
                </a:solidFill>
                <a:latin typeface="Segoe UI"/>
              </a:rPr>
              <a:t>•  ❼  Deploy — two commands and it’s live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